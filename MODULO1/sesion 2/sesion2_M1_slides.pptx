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201168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MÓDULO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D8EA"/>
                </a:solidFill>
              </a:rPr>
              <a:t>Introducción a Python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138988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Sesión 2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8483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3B1"/>
                </a:solidFill>
              </a:rPr>
              <a:t>GitHub · Control de Versiones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FA3B1"/>
                </a:solidFill>
              </a:rPr>
              <a:t>Sintaxis Básica de Python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65760" y="2999232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821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3163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Viernes 17 de abril de 2026  ·  18:00 – 21:00 h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6616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35478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Modalidad: En línea vía Zoom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502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" y="3931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Instructor: Eric  ·  Diplomado ML en Seguros, FC UNAM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Universidad Nacional Autónoma de México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 de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Sesión 2  ·  3 horas  ·  Viernes 17 de abril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33856"/>
            <a:ext cx="150876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338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18:00–18:10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15214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04288" y="11338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Bienvenida y revisión de la Sesión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645920"/>
            <a:ext cx="150876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6459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18:10–18:40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16642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04288" y="1645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¿Qué es Git y GitHub? Conceptos fundamentales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7472" y="2093976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7472" y="2157984"/>
            <a:ext cx="150876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7472" y="21579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18:40–19:20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217627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04288" y="21579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Práctica: Crear tu primer repositorio y primer commit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47472" y="2670048"/>
            <a:ext cx="1508760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7472" y="26700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19:20–19:30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304288" y="2670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Receso  (10 minutos)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47472" y="3118104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47472" y="3182112"/>
            <a:ext cx="150876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7472" y="31821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19:30–19:50</a:t>
            </a:r>
            <a:endParaRPr lang="en-US" sz="9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320040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04288" y="3182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GitHub: subir el notebook de la Sesión 1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47472" y="3694176"/>
            <a:ext cx="150876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47472" y="36941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19:50–20:30</a:t>
            </a:r>
            <a:endParaRPr lang="en-US" sz="9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3712464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304288" y="3694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T2 — Tipos de datos: números, strings y booleans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47472" y="4142232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47472" y="4206240"/>
            <a:ext cx="150876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47472" y="4206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20:30–21:00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816" y="4224528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304288" y="4206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T2 — Fechas con datetime + mini ejercicio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Revisión: ¿Qué logramos en la Sesión 1?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Antes de continuar, verificamos que tu entorno esté listo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441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Python + Anaconda instalado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--version  y  python --version  muestran versiones correctas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" y="1938528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1854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Ambiente 'diplomado' activo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3225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diplomado  →  el prompt muestra (diplomado)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7472" y="2779776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266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871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VS Code + extensiones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31638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Python, Jupyter y Pylance instalados. Intérprete apunta a 'diplomado'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47472" y="3621024"/>
            <a:ext cx="84490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86791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712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Bibliotecas verificadas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40050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celda de verificación del notebook de S1 muestra ✓ en todas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47472" y="4462272"/>
            <a:ext cx="8449056" cy="438912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5445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672" y="4498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Si algo no funciona: dilo ahora en el chat de Zoom y lo resolvemos antes de continuar.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es Git?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El sistema de control de versiones más usado en el mundo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10241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Git es un sistema que registra cada cambio que haces en tus archivos, con una descripción de qué cambiaste y por qué. Piénsalo como un historial detallado de tu código: puedes ver quién cambió qué, cuándo y por qué razón. Si algo se rompe, puedes volver atrás con un solo comando.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176272"/>
            <a:ext cx="2011680" cy="4389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267712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0624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Historial completo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Cada versión de tu código queda guardada. Si el análisis de hoy rompe algo que funcionaba ayer, git checkout te devuelve al estado anterior en segundos.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23744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23744" y="2176272"/>
            <a:ext cx="201168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26771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96896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Respaldo en la nube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615184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GitHub almacena tu código online. Si tu computadora falla, pierdes el hardware pero no el trabajo: git clone te devuelve todo.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700016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00016" y="2176272"/>
            <a:ext cx="201168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26771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73168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Colaboración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91456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Eduardo, Karla y tú pueden trabajar en el mismo notebook sin pisarse. Git mezcla los cambios automáticamente.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76288" y="2176272"/>
            <a:ext cx="2011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76288" y="2176272"/>
            <a:ext cx="201168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226771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26883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Entrega de tareas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67728" y="3054096"/>
            <a:ext cx="18470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En este diplomado entregarás tus prácticas como repositorios de GitHub. Es el estándar en la industria.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GitHub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Git vs GitHub — ¿Cuál es la diferencia?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Una distinción importante que se confunde con frecuencia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005072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987552"/>
            <a:ext cx="4005072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424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910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" y="1572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Software que vive en TU computadora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933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19751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Registra el historial de cambios localmente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9572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8096" y="2377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No necesita internet para funcionar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79806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8096" y="2779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Gratuito y de código abierto (Linux, 2005)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200400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8096" y="31821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Se usa desde la terminal con comandos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602736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68096" y="35844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Sin Git, GitHub no puede existir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4773168" y="987552"/>
            <a:ext cx="40233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4773168" y="987552"/>
            <a:ext cx="4023360" cy="4754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1042416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40096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GitHub</a:t>
            </a:r>
            <a:endParaRPr lang="en-US" sz="18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1591056"/>
            <a:ext cx="219456" cy="21945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93792" y="1572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Servicio en la NUBE para alojar repositorios Git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1184" y="1993392"/>
            <a:ext cx="219456" cy="219456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93792" y="19751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Interfaz web para explorar código e historial</a:t>
            </a:r>
            <a:endParaRPr lang="en-US" sz="10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1184" y="2395728"/>
            <a:ext cx="219456" cy="219456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193792" y="2377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Colaboración: pull requests, code review</a:t>
            </a:r>
            <a:endParaRPr lang="en-US" sz="10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1184" y="2798064"/>
            <a:ext cx="219456" cy="219456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193792" y="2779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Almacena el código de millones de proyectos</a:t>
            </a:r>
            <a:endParaRPr lang="en-US" sz="105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1184" y="3200400"/>
            <a:ext cx="219456" cy="219456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193792" y="318211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Propiedad de Microsoft (adquirido en 2018)</a:t>
            </a:r>
            <a:endParaRPr lang="en-US" sz="105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1184" y="3602736"/>
            <a:ext cx="219456" cy="219456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193792" y="35844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Gratuito para repositorios públicos y privados</a:t>
            </a:r>
            <a:endParaRPr lang="en-US" sz="1050" dirty="0"/>
          </a:p>
        </p:txBody>
      </p:sp>
      <p:sp>
        <p:nvSpPr>
          <p:cNvPr id="39" name="Shape 23"/>
          <p:cNvSpPr/>
          <p:nvPr/>
        </p:nvSpPr>
        <p:spPr>
          <a:xfrm>
            <a:off x="347472" y="4626864"/>
            <a:ext cx="8449056" cy="475488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488" y="4718304"/>
            <a:ext cx="256032" cy="256032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822960" y="466344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Analogía: Git es como Word (el programa que edita documentos). GitHub es como Google Drive (el lugar en la nube donde guardas y compartes esos documentos).</a:t>
            </a:r>
            <a:endParaRPr lang="en-US" sz="1050" dirty="0"/>
          </a:p>
        </p:txBody>
      </p:sp>
      <p:sp>
        <p:nvSpPr>
          <p:cNvPr id="42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3" name="Text 2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4" name="Text 2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GitHub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 Flujo de Trabajo de Git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Tres áreas y cómo los archivos se mueven entre ellas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651760" cy="33649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2651760" cy="4937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Working Directory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Tu carpeta local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5727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Aquí editas tus archivos normalmente. Los cambios que haces aquí aún NO están registrados por Git.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06624" y="2194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06624" y="2432304"/>
            <a:ext cx="118872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87552"/>
            <a:ext cx="2651760" cy="33649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87552"/>
            <a:ext cx="2651760" cy="4937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Staging Area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Zona de preparación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5727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Con git add marcas qué archivos quieres incluir en el próximo commit. Es como preparar los ingredientes antes de cocinar.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59552" y="2194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59552" y="2432304"/>
            <a:ext cx="118872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987552"/>
            <a:ext cx="2651760" cy="336499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987552"/>
            <a:ext cx="2651760" cy="4937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 (.git)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Historial permanente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44768" y="15727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Con git commit guardas una 'fotografía' permanente del estado de tus archivos. Cada commit tiene un ID único.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480560"/>
            <a:ext cx="8449056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517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Flujo típico: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editas notebook.ipynb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36976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notebook.ipynb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6592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'Agrega análisis S2'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35824" y="4517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subido a GitHub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Flujo Git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PRÁCTICA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Paso 1: Configurar Git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Solo se hace una vez en tu computadora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Antes de usar Git necesitas decirle quién eres. Esto aparecerá en cada commit que hagas.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325880"/>
            <a:ext cx="8449056" cy="132588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325880"/>
            <a:ext cx="844905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25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Configuración inicial (ejecuta en tu terminal — Anaconda Prompt o Terminal)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8249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Configurar nombre y correo (usa los mismos que en tu cuenta de GitHub)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81051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"Tu Nombre Completo"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93852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"tu@correo.com"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06654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19456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la configuración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32257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45059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Verás: user.name=Tu Nombre Completo  |  user.email=tu@correo.com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27889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Crear cuenta en GitHub (si aún no tienes una)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 a github.com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Haz clic en 'Sign up' (esquina superior derecha)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05456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89504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Completa el registro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05456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96896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Correo electrónico → contraseña → nombre de usuario. Elige un usuario profesional, lo usarás en tu CV.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7488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Verifica tu correo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GitHub envía un código de verificación. Revisa tu bandeja de entrada (y spam).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21424" y="3154680"/>
            <a:ext cx="199339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05472" y="3200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Elige el plan gratuito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21424" y="3502152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12864" y="3593592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Free plan → incluye repositorios privados ilimitados y colaboración.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PRÁCTICA 1 · Configurar Git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PRÁCTICA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Crear tu Primer Repositorio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Opción A: desde GitHub (web) → clonar localmente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9264" y="1115568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11704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</a:rPr>
              <a:t>Crear repo en GitHub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4447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Ve a github.com → clic en '+' (esquina superior derecha) → 'New repository'. Nombre: diplomado-ml-seguros. Marca 'Add a README file'. Clic en 'Create repository'.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011680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1168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9264" y="2011680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78992" y="20665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</a:rPr>
              <a:t>Copiar la URL del repo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34086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En la página del repo, clic en el botón verde 'Code'. Copia la URL HTTPS que aparece: https://github.com/TuUsuario/diplomado-ml-seguros.git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907792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90779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9264" y="2907792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8992" y="29626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</a:rPr>
              <a:t>Clonar en tu computadora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23697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Abre tu terminal (Anaconda Prompt). Navega a donde quieres guardar el proyecto. Ejecuta: git clone https://github.com/TuUsuario/diplomado-ml-seguros.git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803904"/>
            <a:ext cx="566928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80390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9264" y="3803904"/>
            <a:ext cx="7827264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78992" y="38587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</a:rPr>
              <a:t>Entrar a la carpeta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1330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Ejecuta: cd diplomado-ml-seguros. Ahora estás dentro de tu repositorio local. Git ya está configurado y apunta a GitHub.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4681728"/>
            <a:ext cx="8449056" cy="43891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https://github.com/TuUsuario/diplomado-ml-seguros.git  &amp;&amp;  cd diplomado-ml-seguros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PRÁCTICA 1 · Primer Repositorio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PRÁCTICA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Tu Primer Commit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Añadir el notebook de la Sesión 1 al repositorio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Copia tu notebook sesion1_M1_notebook.ipynb dentro de la carpeta del repositorio y ejecuta: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325880"/>
            <a:ext cx="8449056" cy="20848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325880"/>
            <a:ext cx="844905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25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Secuencia completa: de tu carpeta a GitHub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8249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Ver el estado actual del repositorio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8013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92024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Mostrará: sesion1_M1_notebook.ipynb  (en rojo = sin rastrear)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03911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15798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Agregar el archivo al staging area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27685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sesion1_M1_notebook.ipynb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39572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También puedes agregar todo: git add 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251460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63347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Crear el commit (la 'fotografía')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2752344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"Sesión 1: notebook de instalación y primer análisis actuarial"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287121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99008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Subir a GitHub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108960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22783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(puede pedir usuario y token de GitHub la primera vez)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3547872"/>
            <a:ext cx="844905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3547872"/>
            <a:ext cx="91440" cy="8961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94176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9264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Verificar en GitHub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8953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Ve a github.com → tu repositorio → deberías ver sesion1_M1_notebook.ipynb en la lista de archivos. Si aparece, ¡tu primer commit está en la nube! 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47472" y="4553712"/>
            <a:ext cx="8449056" cy="438912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645152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04672" y="4590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Si git push pide autenticación: ve a github.com → Settings → Developer settings → Personal access tokens → genera un token y úsalo como contraseña.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PRÁCTICA 1 · Primer Commit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PARTE 1 DE 2 · GITHUB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Los 8 Comandos Git que Más Usarás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Referencia rápida para el día a día del diplomado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2377440" cy="6583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1556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24912" y="1115568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2252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Ver qué archivos cambiaron y cuáles están en staging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9744" y="1115568"/>
            <a:ext cx="2377440" cy="6583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11556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87184" y="1115568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96912" y="12252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Agregar TODOS los archivos modificados al staging area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1956816"/>
            <a:ext cx="237744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24912" y="1956816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34640" y="206654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Guardar un punto de control con descripción del cambio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9744" y="1956816"/>
            <a:ext cx="237744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87184" y="1956816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96912" y="206654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Subir tus commits locales a GitHub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798064"/>
            <a:ext cx="237744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79806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24912" y="2798064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34640" y="29077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Descargar los últimos cambios de GitHub a tu computadora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9744" y="2798064"/>
            <a:ext cx="237744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79806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87184" y="2798064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96912" y="29077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Ver historial de commits de forma resumida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3639312"/>
            <a:ext cx="2377440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63931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24912" y="3639312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834640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Ver exactamente qué líneas cambiaron en los archivos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9744" y="3639312"/>
            <a:ext cx="23774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63931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archivo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87184" y="3639312"/>
            <a:ext cx="1975104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96912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Descartar cambios y volver al último commit guardado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4526280"/>
            <a:ext cx="8449056" cy="438912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617720"/>
            <a:ext cx="237744" cy="23774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04672" y="45720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Regla de oro: nunca trabajes en el repositorio sin hacer primero git pull. Así siempre tienes la versión más reciente antes de editar.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PARTE 1 · Comandos Git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A3B1"/>
                </a:solidFill>
              </a:rPr>
              <a:t>Ahora sí...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T2 — Sintaxis Básica de Python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8EA"/>
                </a:solidFill>
              </a:rPr>
              <a:t>Tipos de datos, strings, booleans y fechas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999232"/>
            <a:ext cx="45720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101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Números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int y float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76272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31012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76272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Strings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76272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texto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895344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31012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95344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Booleans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95344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True/False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614416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3310128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14416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Fechas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614416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datetime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333488" y="3200400"/>
            <a:ext cx="1554480" cy="15727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3310128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33488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Estructuras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333488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listas, dicts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SINTAXIS BÁSICA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Tipos de Datos en Python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Todo valor en Python tiene un tipo — Python lo infiere automáticamente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 diferencia de R (donde casi todo es un vector) o Excel (donde las celdas son simplemente celdas), Python tiene tipos de datos muy específicos. Conocerlos te permite saber qué operaciones puedes hacer con cada valor y evita errores comunes al analizar datos actuariales.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38528"/>
            <a:ext cx="1572768" cy="40233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Entero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2336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35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num_polizas = 8_500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Números sin decimales. Se usa para contar, indexar, años.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66544" y="1938528"/>
            <a:ext cx="1572768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float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66544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Decimal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66544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21408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7984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 = 3_450.75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 = 0.018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39696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Números con punto decimal. Casi todos los cálculos actuariales.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85616" y="1938528"/>
            <a:ext cx="1572768" cy="40233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85616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Texto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85616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0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77056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"María"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= "GMM-01"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58768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Cadenas de texto. Nombres, IDs de póliza, ramos, coberturas.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04688" y="1938528"/>
            <a:ext cx="1572768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04688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Lógico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04688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59552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 = 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fraude = False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Solo dos valores: True o False. Base de todos los filtros.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1938528"/>
            <a:ext cx="1572768" cy="402336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19385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NoneType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23760" y="21762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Sin valor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23760" y="2340864"/>
            <a:ext cx="1572768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78624" y="2432304"/>
            <a:ext cx="1463040" cy="6217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246888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= None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96912" y="3127248"/>
            <a:ext cx="1444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Equivalente a NULL en SQL o NA en R. Dato ausente o no registrado.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Tipos de Datos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Números: int y float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La base de todos los cálculos actuariales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3986784" cy="2816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987552"/>
            <a:ext cx="3986784" cy="3657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  —  Números enteros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08176"/>
            <a:ext cx="3767328" cy="135331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63040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Declaración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1604772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35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746504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num_siniestros = 374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1888236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anio_emision = 2024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029968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171700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Separador visual de miles (solo visual)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313432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1_000_000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455164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print(type(edad))  # &lt;class 'int'&gt;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2596896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print(suma)        # 1000000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Operaciones enteras: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3767328" cy="5669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45536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// 3)   # 3  (div. entera)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310128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print(10 %  3)   # 1  (residuo/módulo)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3474720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** 8)    # 256 (potencia)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62272" y="987552"/>
            <a:ext cx="4334256" cy="2816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62272" y="987552"/>
            <a:ext cx="4334256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987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float  —  Números decimales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1408176"/>
            <a:ext cx="4114800" cy="135331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463040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Declaración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45152" y="1604772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  = 3_450.75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45152" y="1746504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   = 0.018       # 1.8%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5152" y="1888236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1.16        # IVA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45152" y="2029968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45152" y="2171700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infiere el tipo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45152" y="2313432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print(type(prima))  # &lt;class 'float'&gt;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45152" y="2455164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print(round(prima, 0))  # 3451.0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5152" y="2596896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print(f'${prima:,.2f}') # $3,450.75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0" y="2834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Funciones matemáticas: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090672"/>
            <a:ext cx="4114800" cy="5669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31455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sqrt, log, exp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3310128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sqrt(16)    # 4.0  raíz cuadrada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3474720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log(1000)   # 6.9  logaritmo natural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7472" y="3913632"/>
            <a:ext cx="8449056" cy="10241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" y="3913632"/>
            <a:ext cx="8449056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Aplicación actuarial: prima comercial con IVA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" y="423367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1_000_000;  tasa = 0.018;  recargo = 0.12;  iva = 1.16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" y="437540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prima_pura = suma * tasa               # 18,000.0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" y="4517136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prima_comerc = prima_pura * (1+recargo)# 20,160.0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" y="465886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prima_final  = prima_comerc * iva      # 23,385.6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" y="480060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 final: ${prima_final:,.2f}')  # $23,385.60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int y float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Strings: Cadenas de Texto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Manejo de texto — fundamental para limpiar datos de pólizas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3986784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987552"/>
            <a:ext cx="3986784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Creación y acceso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767328" cy="36027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2646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Comillas simples o dobles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1636776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"María García"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847088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   = 'Gastos Médicos'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2057400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= "GMM-2026-00145"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26771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47802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Índices (Python cuenta desde 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688336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print(poliza[0])    # 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898648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print(poliza[0:3])  # GMM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3108960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print(poliza[-5:])  # 00145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331927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352958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Longitud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739896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print(len(nombre))  # 13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950208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4160520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Buscar dentro del string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437083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print("GMM" in poliza)   # True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0352" y="4581144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print(poliza.startswith("GMM"))  # True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62272" y="987552"/>
            <a:ext cx="4334256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62272" y="987552"/>
            <a:ext cx="43342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9875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Métodos más usados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1371600"/>
            <a:ext cx="4114800" cy="36027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142646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Limpiar datos (muy útil al leer CSVs)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5152" y="1636776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  JUAN PÉREZ  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45152" y="1847088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x.strip()     # "JUAN PÉREZ"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45152" y="2057400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x.lower()     # "  juan pérez  "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45152" y="2267712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x.upper()     # "  JUAN PÉREZ  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45152" y="247802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5152" y="2688336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Reemplazar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2898648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"GMM-001".replace("-", "_") # GMM_001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45152" y="3108960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45152" y="3319272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Dividir y unir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352958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"1,2,3".split(",")  # ['1','2','3']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3739896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"-".join(["GMM","01","2026"])  # GMM-01-2026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45152" y="3950208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45152" y="4160520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f-strings: formateo moderno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45152" y="4370832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 = 3450.75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45152" y="4581144"/>
            <a:ext cx="3968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f"Prima: ${prima:,.2f}"  # Prima: $3,450.75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Strings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Booleans y None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La base de todos los filtros y condiciones en tus análisis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5120640" cy="31821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987552"/>
            <a:ext cx="5120640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bool  —  True / False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08176"/>
            <a:ext cx="4901184" cy="261518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6304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Solo dos valores posibles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162306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poliza_activa    = True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78308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tiene_siniestros = False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194310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10312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crea booleans al comparar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26314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45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42316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es_senior = edad &gt; 60       # False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58318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es_adulto = edad &gt;= 18      # True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es_exacto = edad == 45      # True (== no =)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290322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no_es_40  = edad != 40      # True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306324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22326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Operadores lógicos: and / or / not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38328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riesgo_alto = edad &gt; 60 and tiene_siniestros  # False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354330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     = edad &gt; 70 or tiene_siniestros   # False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370332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sin_sinies  = not tiene_siniestros             # True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50992" y="987552"/>
            <a:ext cx="3145536" cy="31821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50992" y="987552"/>
            <a:ext cx="3145536" cy="3657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987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None  —  Sin valor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60720" y="1408176"/>
            <a:ext cx="2926080" cy="261518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146304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Dato ausente o no registrado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33872" y="162306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 a NULL (SQL) / NA (R)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33872" y="178308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33872" y="194310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= None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33872" y="210312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monto_pago   = None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33872" y="226314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33872" y="242316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si es None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33872" y="258318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is None     # True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33872" y="274320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beneficiario is not None # False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33872" y="290322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33872" y="306324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uses ==, usa 'is'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33872" y="322326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beneficiario == None  # ⚠ evitar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33872" y="338328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33872" y="354330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pandas: NaN es similar a None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33872" y="3703320"/>
            <a:ext cx="2779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pd.isna(valor)  # para detectarlo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4261104"/>
            <a:ext cx="8449056" cy="80467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4261104"/>
            <a:ext cx="8449056" cy="2743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Aplicación: regla de aceptación automática de pólizas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" y="4590288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edad=38; suma=500_000; siniestros=0; preex=False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" y="47457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acepta = edad &lt;= 65 and suma &lt;= 1_000_000 and siniestros == 0 and not preex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" y="490118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print(f'¿Aceptación automática? {acepta}')  # True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Booleans y None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TIPOS DE DATOS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Fechas con datetime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Manejo de fechas: crítico en pólizas, siniestros y reservas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En seguros las fechas son omnipresentes: fecha de emisión, inicio/fin de vigencia, fecha de siniestro, fecha de reporte... Python tiene el módulo datetime integrado para manejarlas con precisión.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865376"/>
            <a:ext cx="398678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865376"/>
            <a:ext cx="3986784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6537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Crear y leer fechas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3767328" cy="23774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04288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date, datetime, timedelta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2478024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651760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Fecha de hoy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825496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= date.today()   # 2026-04-17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999232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3172968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Fecha específica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3346704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emision   = date(2026, 1, 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3520440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vencimiento = date(2026, 12, 31)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3694176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867912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partes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4041648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print(hoy.year)   #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4215384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print(hoy.month)  # 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4389120"/>
            <a:ext cx="3639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print(hoy.day)    # 17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62272" y="1865376"/>
            <a:ext cx="43342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62272" y="1865376"/>
            <a:ext cx="4334256" cy="329184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8653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Operaciones y formato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249424"/>
            <a:ext cx="4114800" cy="23774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230428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Diferencia entre fechas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45152" y="2478024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dias_vigencia = (vencimiento - emision).days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5152" y="265176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print(dias_vigencia)  # 350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45152" y="2825496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45152" y="2999232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Sumar/restar días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45152" y="317296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renovacion = vencimiento + timedelta(days=1)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45152" y="3346704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5152" y="352044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Edad del asegurado (años)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3694176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nacimiento = date(1985, 6, 20)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45152" y="3867912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(hoy - nacimiento).days // 365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45152" y="404164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4215384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para reportes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45152" y="438912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hoy.strftime('%d/%m/%Y')  # 17/04/2026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45152" y="4562856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hoy.strftime('%Y-%m')     # 2026-04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7472" y="4791456"/>
            <a:ext cx="8449056" cy="411480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864608"/>
            <a:ext cx="237744" cy="237744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04672" y="48188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En Pandas las fechas se manejan con pd.to_datetime() y permiten agrupar por mes/año, filtrar rangos y calcular días de mora o exposición automáticamente. Lo veremos en T5.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Fechas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FECHAS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Formatos de Fecha (strftime)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Referencia de los códigos más usados en reportes actuariales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93776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87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Código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987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Significado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8032" y="987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Ejemplo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371600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08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81328" y="14081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Año 4 dígitos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9312" y="14081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700784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37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%-m / %m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81328" y="17373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Mes sin/con cero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39312" y="1737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4 / 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2029968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066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1328" y="20665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Nombre del 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39312" y="2066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abril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2359152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395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81328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Día con cero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39312" y="23957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17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2688336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7249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81328" y="27249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Nombre del día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39312" y="27249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viernes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017520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054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%j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81328" y="3054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Día del año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39312" y="30540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107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3346704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%H:%M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81328" y="33832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Hora:Minuto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39312" y="3383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14:35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" y="3675888"/>
            <a:ext cx="493776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712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%Y-%m-%d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81328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ISO 8601 (bases de datos)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39312" y="37124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2026-04-17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4005072"/>
            <a:ext cx="49377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041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%d/%m/%Y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81328" y="40416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Formato México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39312" y="40416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17/04/2026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987552"/>
            <a:ext cx="3218688" cy="40599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987552"/>
            <a:ext cx="321868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987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Ejemplos prácticos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50992" y="133502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50992" y="150876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50992" y="168249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= date(2026, 4, 17)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650992" y="185623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650992" y="2029968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reportes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50992" y="220370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hoy.strftime('%d/%m/%Y')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50992" y="237744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'17/04/2026'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650992" y="255117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650992" y="272491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bases de datos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650992" y="2898648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hoy.strftime('%Y-%m-%d')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650992" y="307238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'2026-04-17'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650992" y="324612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650992" y="341985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etiquetas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650992" y="359359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hoy.strftime('%B %Y')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650992" y="3767328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'abril 2026'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650992" y="3941064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650992" y="4114800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Mes y año corto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650992" y="4288536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hoy.strftime('%m/%Y')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650992" y="4462272"/>
            <a:ext cx="3072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'04/2026'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47472" y="4828032"/>
            <a:ext cx="8449056" cy="402336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7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901184"/>
            <a:ext cx="219456" cy="219456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786384" y="48646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Para calcular vigencia: (fecha_fin - fecha_inicio).days / 365.25  (usa 365.25 para considerar años bisiestos correctamente)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Formatos de Fecha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Ejercicio en Clase ✏️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15 minutos — resuelve en tu notebook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91440" cy="10241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Tu área acaba de emitir 4 pólizas de Gastos Médicos. Te dan los datos básicos y necesitas calcular métricas para el reporte diario del área de emisión.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8449056" cy="11704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103120"/>
            <a:ext cx="8449056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 para el ejercicio — copia en tu notebook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5740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   = ['Ana Torres',  'Luis Pérez',   'María García', 'Carlos Ruiz']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7157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edades    = [28,             45,             32,             62]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8575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emision   = [date(2026,1,15), date(2026,2,1), date(2026,3,10),date(2026,4,1)]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9992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prima_anual = [2400,          6200,           1900,           14500]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31409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    = [True,           True,           False,          True]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383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Tareas: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712464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1. Imprime el nombre, edad y prima de la póliza índice 2 (la tercera). ¿Está activa?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3931920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2. Calcula cuántos días lleva vigente cada póliza desde su emisión hasta hoy. (hoy - emision[i]).days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151376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3. Calcula la prima mensual de cada asegurado (prima_anual / 12). Formatea con 2 decimales.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370832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4. ¿Cuántas pólizas están activas? (cuenta los True en la lista activa).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4590288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5. Bonus: ¿Cuál es la prima promedio de las pólizas activas? (suma primas activas / total activas)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4846320"/>
            <a:ext cx="8449056" cy="347472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873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💡  Pistas: date.today() · (fecha2 - fecha1).days · f'{valor:.2f}' · sum(lista_booleans)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Ejercicio en Clase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Solución del Ejercicio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Revisamos juntos — compara con tu respuesta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40599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8449056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Solución completa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4584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nombres=['Ana Torres','Luis Pérez','María García','Carlos Ruiz']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edades=[28,45,32,62]; prima_anual=[2400,6200,1900,14500]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7419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emision=[date(2026,1,15),date(2026,2,1),date(2026,3,10),date(2026,4,1)]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883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activa=[True,True,False,True]; hoy=date.today()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025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167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Índice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308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print(f'{nombres[2]} · Edad: {edades[2]} · Prima: ${prima_anual[2]:,} · Activa: {activa[2]}')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450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María García · Edad: 32 · Prima: $1,900 · Activa: False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592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734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Días de vigencia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8757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0175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dias = (hoy - emision[i]).days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1592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print(f'{nombres[i]}: {dias} días vigente')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3009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4427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Prima mensual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5844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7261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print(f'{nombres[i]}: ${prima_anual[i]/12:,.2f}/mes')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8679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0096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Pólizas activas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1513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print(f'Activas: {sum(activa)} de {len(activa)}')  # 3 de 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931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4348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Bonus: prima promedio activas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5765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primas_activas=[prima_anual[i] for i in range(4) if activa[i]]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7183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 prom. activas: ${sum(primas_activas)/len(primas_activas):,.2f}')  # $7,700.00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Módulo 1 · Sesión 2  ·  Viernes 17 de abril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Solución del Ejercicio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</a:rPr>
              <a:t>Sesión 2 completada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081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3898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GitHub configurado — tu primer repositorio y commit en la nube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470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8288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Tipos de datos: int, float, str, bool, None — todos con contexto de seguros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860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2677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Manejo de fechas con datetime — vigencias, días de mora, exposición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2491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27066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f-strings y format — reportes con formato profesional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11480" y="3255264"/>
            <a:ext cx="8321040" cy="6949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11480" y="3255264"/>
            <a:ext cx="91440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21792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Tarea antes de la Sesión 3: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21792" y="3566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Sube el ejercicio de hoy a tu repositorio de GitHub con un commit descriptivo.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11480" y="4069080"/>
            <a:ext cx="8321040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3308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" y="41239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Próxima sesión: Sábado 18 de abril  ·  07:00–11:00 h  ·  Zoom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96112" y="41330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8EA"/>
                </a:solidFill>
              </a:rPr>
              <a:t>Tema: Estructuras de datos — listas, tuplas, diccionarios y conjuntos  ·  Control de flujo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 · Sesión 2 · GitHub + Sintaxis Básica</dc:title>
  <dc:subject>PptxGenJS Presentation</dc:subject>
  <dc:creator>PptxGenJS</dc:creator>
  <cp:lastModifiedBy>PptxGenJS</cp:lastModifiedBy>
  <cp:revision>1</cp:revision>
  <dcterms:created xsi:type="dcterms:W3CDTF">2026-04-17T17:00:16Z</dcterms:created>
  <dcterms:modified xsi:type="dcterms:W3CDTF">2026-04-17T17:00:16Z</dcterms:modified>
</cp:coreProperties>
</file>